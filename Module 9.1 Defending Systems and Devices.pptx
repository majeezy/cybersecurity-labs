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0" d="100"/>
          <a:sy n="100" d="100"/>
        </p:scale>
        <p:origin x="269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7315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4BACC6"/>
                </a:solidFill>
                <a:latin typeface="Calibri"/>
              </a:rPr>
              <a:t>MODULE 9.1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Defending Systems
and Devices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3017520"/>
            <a:ext cx="3657600" cy="54864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DBE5F1"/>
                </a:solidFill>
                <a:latin typeface="Calibri"/>
              </a:rPr>
              <a:t>Cybersecurity Essentials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3840480"/>
            <a:ext cx="8229600" cy="2560320"/>
          </a:xfrm>
          <a:prstGeom prst="rect">
            <a:avLst/>
          </a:prstGeom>
          <a:solidFill>
            <a:srgbClr val="173762"/>
          </a:solidFill>
          <a:ln w="19050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3977639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4BACC6"/>
                </a:solidFill>
                <a:latin typeface="Calibri"/>
              </a:rPr>
              <a:t>Topics Covered: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38912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5F1"/>
                </a:solidFill>
                <a:latin typeface="Calibri"/>
              </a:rPr>
              <a:t>OS Security  •  Antimalware Programs  •  Patch Management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75488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5F1"/>
                </a:solidFill>
                <a:latin typeface="Calibri"/>
              </a:rPr>
              <a:t>Endpoint Security  •  Host Encryption  •  Boot Integrity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20640"/>
            <a:ext cx="7863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BE5F1"/>
                </a:solidFill>
                <a:latin typeface="Calibri"/>
              </a:rPr>
              <a:t>Apple Security Features  •  Managing Device Threats  •  Physical Protection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9.1.1 – 9.1.2  Operating 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The OS is the first line of defense in network security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1005840" cy="4114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292608" y="1389888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9.1.1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17320" y="137160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F497D"/>
                </a:solidFill>
                <a:latin typeface="Calibri"/>
              </a:rPr>
              <a:t>Why OS Security Matters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2880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262626"/>
                </a:solidFill>
                <a:latin typeface="Calibri"/>
              </a:rPr>
              <a:t>The operating system plays a critical role in maintaining network security and is the target of many attacks. Securing the OS is the first responsibility of cybersecurity professionals.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06040"/>
            <a:ext cx="2743200" cy="4572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6576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REMOVE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063240"/>
            <a:ext cx="2743200" cy="1097280"/>
          </a:xfrm>
          <a:prstGeom prst="rect">
            <a:avLst/>
          </a:prstGeom>
          <a:solidFill>
            <a:srgbClr val="DBE5F1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65760" y="3108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2626"/>
                </a:solidFill>
                <a:latin typeface="Calibri"/>
              </a:rPr>
              <a:t>Unnecessary
Programs &amp; Services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0" y="2606040"/>
            <a:ext cx="2743200" cy="4572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29184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PATCH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3063240"/>
            <a:ext cx="2743200" cy="1097280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291840" y="3108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2626"/>
                </a:solidFill>
                <a:latin typeface="Calibri"/>
              </a:rPr>
              <a:t>Install Security
Updates Promptly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2606040"/>
            <a:ext cx="2743200" cy="4572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17920" y="2624328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CONFIGURE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3063240"/>
            <a:ext cx="2743200" cy="1097280"/>
          </a:xfrm>
          <a:prstGeom prst="rect">
            <a:avLst/>
          </a:prstGeom>
          <a:solidFill>
            <a:srgbClr val="FDEAD3"/>
          </a:solidFill>
          <a:ln w="12700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17920" y="3108960"/>
            <a:ext cx="25603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62626"/>
                </a:solidFill>
                <a:latin typeface="Calibri"/>
              </a:rPr>
              <a:t>Set Secure OS
Settings &amp; Policies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9.1.1 – 9.1.2  Operating System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The OS is the first line of defense in network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674620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ZA" b="1" dirty="0">
                <a:solidFill>
                  <a:srgbClr val="1F497D"/>
                </a:solidFill>
                <a:latin typeface="Calibri"/>
              </a:rPr>
              <a:t>A systematic approach</a:t>
            </a:r>
            <a:r>
              <a:rPr lang="en-ZA" sz="1800" b="1" i="0" dirty="0">
                <a:solidFill>
                  <a:srgbClr val="1F497D"/>
                </a:solidFill>
                <a:latin typeface="Calibri"/>
              </a:rPr>
              <a:t>:</a:t>
            </a:r>
            <a:endParaRPr sz="1800" b="1" i="0" dirty="0">
              <a:solidFill>
                <a:srgbClr val="1F497D"/>
              </a:solidFill>
              <a:latin typeface="Calibr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274320" y="3251396"/>
            <a:ext cx="8595360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It’s important to have a systematic approach in place for addressing system updates. </a:t>
            </a:r>
          </a:p>
          <a:p>
            <a:pPr algn="l"/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An organization should: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establish procedures for monitoring security-related information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evaluate updates for applicability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plan the installation of application updates and patches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install updates using a documented plan.</a:t>
            </a:r>
          </a:p>
          <a:p>
            <a:pPr algn="l"/>
            <a:endParaRPr sz="14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4320" y="5180636"/>
            <a:ext cx="520446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 b="0" i="0" dirty="0">
                <a:solidFill>
                  <a:srgbClr val="000000"/>
                </a:solidFill>
                <a:effectLst/>
                <a:latin typeface="CiscoSansTT"/>
              </a:rPr>
              <a:t>Another critical way to secure an operating system is to identify potential vulnerabilities. To do this, establish a baseline to compare how a system is performing against baseline expectations.</a:t>
            </a:r>
            <a:endParaRPr sz="13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350520" y="1417320"/>
            <a:ext cx="1005840" cy="41148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350520" y="14859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 dirty="0">
                <a:solidFill>
                  <a:srgbClr val="FFFFFF"/>
                </a:solidFill>
                <a:latin typeface="Calibri"/>
              </a:rPr>
              <a:t>9.1.2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409700" y="1458468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F497D"/>
                </a:solidFill>
                <a:latin typeface="Calibri"/>
              </a:rPr>
              <a:t>A Good Administrator Will: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9540" y="1875031"/>
            <a:ext cx="85953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dirty="0">
                <a:solidFill>
                  <a:srgbClr val="262626"/>
                </a:solidFill>
                <a:latin typeface="Calibri"/>
              </a:rPr>
              <a:t>•  Configure the OS to protect against outside threats</a:t>
            </a:r>
          </a:p>
          <a:p>
            <a:pPr algn="l">
              <a:spcAft>
                <a:spcPts val="400"/>
              </a:spcAft>
            </a:pPr>
            <a:r>
              <a:rPr sz="1400" dirty="0">
                <a:solidFill>
                  <a:srgbClr val="262626"/>
                </a:solidFill>
                <a:latin typeface="Calibri"/>
              </a:rPr>
              <a:t>•  Remove unnecessary programs and services</a:t>
            </a:r>
          </a:p>
          <a:p>
            <a:pPr algn="l">
              <a:spcAft>
                <a:spcPts val="400"/>
              </a:spcAft>
            </a:pPr>
            <a:r>
              <a:rPr sz="1400" dirty="0">
                <a:solidFill>
                  <a:srgbClr val="262626"/>
                </a:solidFill>
                <a:latin typeface="Calibri"/>
              </a:rPr>
              <a:t>•  Install security patches and updates in a timely manner to correct faults and mitigate risks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2737D6E-8F6C-4A31-8C7F-E84B9C6069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0800000" flipV="1">
            <a:off x="7452359" y="1188721"/>
            <a:ext cx="1691640" cy="1584886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CE86A0F9-218E-4D20-95BC-2CA5BD0CF6E2}"/>
              </a:ext>
            </a:extLst>
          </p:cNvPr>
          <p:cNvSpPr txBox="1"/>
          <p:nvPr/>
        </p:nvSpPr>
        <p:spPr>
          <a:xfrm>
            <a:off x="274320" y="4778942"/>
            <a:ext cx="73152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 dirty="0">
                <a:solidFill>
                  <a:srgbClr val="1F497D"/>
                </a:solidFill>
                <a:latin typeface="Calibri"/>
              </a:rPr>
              <a:t>A</a:t>
            </a:r>
            <a:r>
              <a:rPr lang="en-ZA" sz="1800" b="1" i="0" dirty="0">
                <a:solidFill>
                  <a:srgbClr val="1F497D"/>
                </a:solidFill>
                <a:latin typeface="Calibri"/>
              </a:rPr>
              <a:t> baseline</a:t>
            </a:r>
            <a:r>
              <a:rPr sz="1800" b="1" i="0" dirty="0">
                <a:solidFill>
                  <a:srgbClr val="1F497D"/>
                </a:solidFill>
                <a:latin typeface="Calibri"/>
              </a:rPr>
              <a:t>:</a:t>
            </a: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82A90E47-A0CE-40B1-B7FB-A2968646CE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59" y="2954956"/>
            <a:ext cx="1687950" cy="1632150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6E9D387-6381-4F49-A660-2AFF2912A2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2359" y="4768456"/>
            <a:ext cx="1687950" cy="146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186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9.1.3  Types of Antimalware Programs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Malware = viruses, worms, Trojans, keyloggers, spyware, adware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It's important to protect devices using reputable antimalware software. Different tools target different threats: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164592" cy="78638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828800"/>
            <a:ext cx="2286000" cy="786384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920240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Adware Protection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2788920" y="1828800"/>
            <a:ext cx="6080760" cy="786384"/>
          </a:xfrm>
          <a:prstGeom prst="rect">
            <a:avLst/>
          </a:prstGeom>
          <a:solidFill>
            <a:srgbClr val="DBE5F1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880360" y="1901952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Looks for programs that display unwanted advertising in popup boxes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670048"/>
            <a:ext cx="164592" cy="786384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7200" y="2670048"/>
            <a:ext cx="2286000" cy="786384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2920" y="2761488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Trusted Advisor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88920" y="2670048"/>
            <a:ext cx="6080760" cy="786384"/>
          </a:xfrm>
          <a:prstGeom prst="rect">
            <a:avLst/>
          </a:prstGeom>
          <a:solidFill>
            <a:srgbClr val="EBF1DD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80360" y="2743200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Warns the user about unsafe programs or websites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511296"/>
            <a:ext cx="164592" cy="78638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57200" y="3511296"/>
            <a:ext cx="2286000" cy="786384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02920" y="3602736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Phishing Protection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88920" y="3511296"/>
            <a:ext cx="6080760" cy="786384"/>
          </a:xfrm>
          <a:prstGeom prst="rect">
            <a:avLst/>
          </a:prstGeom>
          <a:solidFill>
            <a:srgbClr val="FDEAD3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2880360" y="3584448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Blocks known phishing IPs and warns about suspicious emails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4352544"/>
            <a:ext cx="164592" cy="786384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57200" y="4352544"/>
            <a:ext cx="2286000" cy="786384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02920" y="4443984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Antivirus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88920" y="4352544"/>
            <a:ext cx="6080760" cy="786384"/>
          </a:xfrm>
          <a:prstGeom prst="rect">
            <a:avLst/>
          </a:prstGeom>
          <a:solidFill>
            <a:srgbClr val="F9E0DE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880360" y="4425696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Monitors for viruses, warns when detected, quarantines or deletes 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193792"/>
            <a:ext cx="164592" cy="786384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457200" y="5193792"/>
            <a:ext cx="2286000" cy="786384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5285232"/>
            <a:ext cx="21945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Anti-spyware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88920" y="5193792"/>
            <a:ext cx="6080760" cy="786384"/>
          </a:xfrm>
          <a:prstGeom prst="rect">
            <a:avLst/>
          </a:prstGeom>
          <a:solidFill>
            <a:srgbClr val="E6DFEC"/>
          </a:solidFill>
          <a:ln w="952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2880360" y="5266944"/>
            <a:ext cx="58978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Scans for keyloggers and other spyware that record keystrokes to steal passwords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9.1.4  Points to Remember: Antimalware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Key warnings and best practices for antimalware protection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371600"/>
            <a:ext cx="4206240" cy="384048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84048" y="1417320"/>
            <a:ext cx="3986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Watch Out for Rogue Antivirus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55648"/>
            <a:ext cx="4206240" cy="1764792"/>
          </a:xfrm>
          <a:prstGeom prst="rect">
            <a:avLst/>
          </a:prstGeom>
          <a:solidFill>
            <a:srgbClr val="F9E0DE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84048" y="1828800"/>
            <a:ext cx="39867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Malicious rogue AV products appear as fake Windows warnings while browsing. They claim malware is present and prompt the user to 'clean' it — but clicking anywhere may download real malware instead.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371600"/>
            <a:ext cx="4206240" cy="384048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864608" y="1417320"/>
            <a:ext cx="3986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Fileless Attacks Are Hard to Detect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755648"/>
            <a:ext cx="4206240" cy="1764792"/>
          </a:xfrm>
          <a:prstGeom prst="rect">
            <a:avLst/>
          </a:prstGeom>
          <a:solidFill>
            <a:srgbClr val="FDEAD3"/>
          </a:solidFill>
          <a:ln w="12700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64608" y="1828800"/>
            <a:ext cx="39867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Fileless malware uses legitimate programs (e.g. Windows PowerShell) and loads directly into memory, leaving no footprint. It ends when the system reboots — hard to detect with traditional AV.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749040"/>
            <a:ext cx="4206240" cy="384048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384048" y="3794760"/>
            <a:ext cx="3986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Scripts Can Be Malware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4133088"/>
            <a:ext cx="4206240" cy="1764792"/>
          </a:xfrm>
          <a:prstGeom prst="rect">
            <a:avLst/>
          </a:prstGeom>
          <a:solidFill>
            <a:srgbClr val="E6DFEC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84048" y="4206240"/>
            <a:ext cx="39867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Scripting languages like Python, Bash, or VBA (Microsoft macros) can be weaponised to create malicious scripts. These may bypass signature-based detection.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54880" y="3749040"/>
            <a:ext cx="4206240" cy="38404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864608" y="3794760"/>
            <a:ext cx="39867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Always Remove Unapproved Software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4133088"/>
            <a:ext cx="4206240" cy="1764792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864608" y="4206240"/>
            <a:ext cx="3986784" cy="1600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Unapproved or non-compliant software may be accidentally or deliberately installed. Even if not malicious, it can violate security policy and interfere with the organisation's network. Remove immediately.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6D2BFE0-E85D-4040-BAA9-9378FFE21FE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70000"/>
          </a:blip>
          <a:stretch>
            <a:fillRect/>
          </a:stretch>
        </p:blipFill>
        <p:spPr>
          <a:xfrm>
            <a:off x="3132122" y="2455149"/>
            <a:ext cx="1238710" cy="106529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9.1.5  Patch Management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Keep systems secure by regularly installing patches and updates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 dirty="0">
                <a:solidFill>
                  <a:srgbClr val="262626"/>
                </a:solidFill>
                <a:latin typeface="Calibri"/>
              </a:rPr>
              <a:t>Cybercriminals relentlessly exploit weaknesses. Staying ahead requires regular patching — many attacks could have been avoided with the latest service packs installed.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2011680"/>
            <a:ext cx="1920240" cy="4572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55092" y="2115865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Step 1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2468880"/>
            <a:ext cx="1920240" cy="3657600"/>
          </a:xfrm>
          <a:prstGeom prst="rect">
            <a:avLst/>
          </a:prstGeom>
          <a:solidFill>
            <a:srgbClr val="DBE5F1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93192" y="2560320"/>
            <a:ext cx="17739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dirty="0">
                <a:solidFill>
                  <a:srgbClr val="262626"/>
                </a:solidFill>
                <a:latin typeface="Calibri"/>
              </a:rPr>
              <a:t> A developer or researcher finds a bug or  weakness in the software.</a:t>
            </a:r>
            <a:endParaRPr sz="12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240280" y="3840480"/>
            <a:ext cx="274320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240280" y="3840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2011680"/>
            <a:ext cx="1920240" cy="45720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560320" y="2130552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Step 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468880"/>
            <a:ext cx="1920240" cy="3657600"/>
          </a:xfrm>
          <a:prstGeom prst="rect">
            <a:avLst/>
          </a:prstGeom>
          <a:solidFill>
            <a:srgbClr val="D6EFF5"/>
          </a:solidFill>
          <a:ln w="12700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587752" y="2560320"/>
            <a:ext cx="17739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dirty="0">
                <a:solidFill>
                  <a:srgbClr val="262626"/>
                </a:solidFill>
                <a:latin typeface="Calibri"/>
              </a:rPr>
              <a:t>The software company writes a patch — basically  a small piece of code that plugs that hole.</a:t>
            </a:r>
            <a:endParaRPr sz="12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4434840" y="3840480"/>
            <a:ext cx="274320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434840" y="3840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09160" y="2011680"/>
            <a:ext cx="1920240" cy="4572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4754880" y="21396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Step 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709160" y="2468880"/>
            <a:ext cx="1920240" cy="3657600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782312" y="2560320"/>
            <a:ext cx="177393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dirty="0">
                <a:solidFill>
                  <a:srgbClr val="262626"/>
                </a:solidFill>
                <a:latin typeface="Calibri"/>
              </a:rPr>
              <a:t>Patches get bundled together into service packs,  which are like big update packages.</a:t>
            </a:r>
            <a:endParaRPr sz="1200" b="0" i="0" dirty="0">
              <a:solidFill>
                <a:srgbClr val="262626"/>
              </a:solidFill>
              <a:latin typeface="Calibr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629400" y="3840480"/>
            <a:ext cx="274320" cy="2286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629400" y="3840480"/>
            <a:ext cx="27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FFFFFF"/>
                </a:solidFill>
                <a:latin typeface="Calibri"/>
              </a:rPr>
              <a:t>▶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903720" y="2011680"/>
            <a:ext cx="1920240" cy="4572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922008" y="2139696"/>
            <a:ext cx="18288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 dirty="0">
                <a:solidFill>
                  <a:srgbClr val="FFFFFF"/>
                </a:solidFill>
                <a:latin typeface="Calibri"/>
              </a:rPr>
              <a:t>Step 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03720" y="2468880"/>
            <a:ext cx="1920240" cy="3657600"/>
          </a:xfrm>
          <a:prstGeom prst="rect">
            <a:avLst/>
          </a:prstGeom>
          <a:solidFill>
            <a:srgbClr val="FDEAD3"/>
          </a:solidFill>
          <a:ln w="12700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976872" y="2560320"/>
            <a:ext cx="177393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GB" sz="1200" b="0" i="0" dirty="0">
                <a:solidFill>
                  <a:srgbClr val="262626"/>
                </a:solidFill>
                <a:latin typeface="Calibri"/>
              </a:rPr>
              <a:t>Windows Update checks for these automatically  and either installs them for you or at least notifies you.</a:t>
            </a:r>
            <a:endParaRPr sz="1200" b="0" i="0" dirty="0">
              <a:solidFill>
                <a:srgbClr val="262626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9.1.6  Endpoint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Host-based solutions protect individual devices from attacks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 host-based solution is a software application that runs on a local device (endpoint) to protect it, working with the OS to help prevent attacks.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47472" y="190195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Host-based
Firewall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240279"/>
            <a:ext cx="2743200" cy="1737360"/>
          </a:xfrm>
          <a:prstGeom prst="rect">
            <a:avLst/>
          </a:prstGeom>
          <a:solidFill>
            <a:srgbClr val="DBE5F1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13431"/>
            <a:ext cx="2560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Restricts incoming/outgoing network activity. Filters data packets. Windows Firewall is built-in. Manages inbound/outbound rules via ports.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54680" y="1874519"/>
            <a:ext cx="2743200" cy="36576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227832" y="190195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HIDS — (Host Intrusion — Detection)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154680" y="2240279"/>
            <a:ext cx="2743200" cy="1737360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46120" y="2313431"/>
            <a:ext cx="2560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Monitors system calls, file access, and registry for malicious activity. Stores logs locally. Resource-intensive. Cannot monitor network traffic not reaching the host.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35040" y="1874519"/>
            <a:ext cx="2743200" cy="3657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108192" y="190195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HIPS — (Host Intrusion — Prevention)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35040" y="2240279"/>
            <a:ext cx="2743200" cy="1737360"/>
          </a:xfrm>
          <a:prstGeom prst="rect">
            <a:avLst/>
          </a:prstGeom>
          <a:solidFill>
            <a:srgbClr val="FDEAD3"/>
          </a:solidFill>
          <a:ln w="12700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126480" y="2313431"/>
            <a:ext cx="2560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Monitors for known attacks and anomalies in bandwidth, protocols, ports. Can send alarms, log activity, reset connections, or drop malicious packets.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4114799"/>
            <a:ext cx="2743200" cy="3657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47472" y="414223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EDR — (Endpoint Detection — &amp; Response)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4480559"/>
            <a:ext cx="2743200" cy="1737360"/>
          </a:xfrm>
          <a:prstGeom prst="rect">
            <a:avLst/>
          </a:prstGeom>
          <a:solidFill>
            <a:srgbClr val="F9E0DE"/>
          </a:solidFill>
          <a:ln w="12700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4553711"/>
            <a:ext cx="2560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Continuously monitors and collects endpoint data, analyzes it, and responds to threats. Goes beyond antivirus — can actively find threats on the device.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154680" y="4114799"/>
            <a:ext cx="2743200" cy="36576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227832" y="414223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DLP — (Data Loss — Prevention)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54680" y="4480559"/>
            <a:ext cx="2743200" cy="1737360"/>
          </a:xfrm>
          <a:prstGeom prst="rect">
            <a:avLst/>
          </a:prstGeom>
          <a:solidFill>
            <a:srgbClr val="E6DFEC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46120" y="4553711"/>
            <a:ext cx="2560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Provides centralized control to ensure sensitive data is not lost, misused, or accessed by unauthorized users.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35040" y="4114799"/>
            <a:ext cx="2743200" cy="36576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108192" y="4142231"/>
            <a:ext cx="2596896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NGFW — (Next-Generation — Firewall)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4480559"/>
            <a:ext cx="2743200" cy="1737360"/>
          </a:xfrm>
          <a:prstGeom prst="rect">
            <a:avLst/>
          </a:prstGeom>
          <a:solidFill>
            <a:srgbClr val="D6EFF5"/>
          </a:solidFill>
          <a:ln w="12700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126480" y="4553711"/>
            <a:ext cx="2560320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Combines traditional firewall with advanced filtering functions, e.g. application firewall with deep packet inspection (DPI) and intrusion protection (IPS).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9.1.7 – 9.1.8  Encryption &amp; Host Encryption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Protecting data at rest using encryption technologies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Encryption uses a complex algorithm to transform readable data (plaintext) into unreadable data (ciphertext). A special key reverses this process.</a:t>
            </a:r>
          </a:p>
        </p:txBody>
      </p:sp>
      <p:sp>
        <p:nvSpPr>
          <p:cNvPr id="6" name="Rectangle 5"/>
          <p:cNvSpPr/>
          <p:nvPr/>
        </p:nvSpPr>
        <p:spPr>
          <a:xfrm>
            <a:off x="740664" y="1874519"/>
            <a:ext cx="1371600" cy="77724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86384" y="1929383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PLAINTEXT
(Readable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12264" y="2130551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2313432" y="1874519"/>
            <a:ext cx="1371600" cy="77724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359152" y="1929383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ENCRYPTION
ALGORITHM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85032" y="2130551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886200" y="1874519"/>
            <a:ext cx="1371600" cy="77724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931920" y="1929383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CIPHERTEXT
(Unreadable)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130551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58968" y="1874519"/>
            <a:ext cx="1371600" cy="77724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504688" y="1929383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DECRYPTION
(With Key)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0568" y="2130551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031736" y="1874519"/>
            <a:ext cx="1371600" cy="77724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077456" y="1929383"/>
            <a:ext cx="12801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PLAINTEXT
(Recovered)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834640"/>
            <a:ext cx="2651760" cy="50292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880360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Windows EFS
(Encrypting File System)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337560"/>
            <a:ext cx="2651760" cy="3063240"/>
          </a:xfrm>
          <a:prstGeom prst="rect">
            <a:avLst/>
          </a:prstGeom>
          <a:solidFill>
            <a:srgbClr val="DBE5F1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84048" y="3429000"/>
            <a:ext cx="24323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Encrypt individual files, folders, or entire hard drive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Built into Windows OS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File-level or folder-level encryption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108960" y="2834640"/>
            <a:ext cx="2651760" cy="50292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3200400" y="2880360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BitLocker
(Full Disk Encryption)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08960" y="3337560"/>
            <a:ext cx="2651760" cy="3063240"/>
          </a:xfrm>
          <a:prstGeom prst="rect">
            <a:avLst/>
          </a:prstGeom>
          <a:solidFill>
            <a:srgbClr val="E6DFEC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3218688" y="3429000"/>
            <a:ext cx="24323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Encrypts entire drive including temp files &amp; memory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Requires Trusted Platform Module (TPM) in BIOS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TPM stores encryption keys, certificates, passwords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BitLocker To Go: encrypts removable drives (no TPM)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834640"/>
            <a:ext cx="2651760" cy="50292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035040" y="2880360"/>
            <a:ext cx="246888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Self-Encrypting Drive
(SED)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43600" y="3337560"/>
            <a:ext cx="2651760" cy="3063240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053328" y="3429000"/>
            <a:ext cx="2432304" cy="2880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Automatically encrypts all data written to drive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Hardware-based — no OS intervention required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Prevents attackers from accessing data via their OS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9.1.9  Boot Integrity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Ensuring systems remain secure even during startup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Attackers can strike during the short window when a system starts up. Boot integrity ensures the system can be trusted and has not been altered while loading.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920240"/>
            <a:ext cx="1463040" cy="128016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Power 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606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User turns on the computer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38528" y="23774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48840" y="1920240"/>
            <a:ext cx="1463040" cy="12801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14884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Firmware
(BIOS/UEFI)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2606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First program to run; stored on motherboard chip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23774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1920240"/>
            <a:ext cx="1463040" cy="128016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84048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Boot Loader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86200" y="2606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Loads the operating system into memory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21808" y="23774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532120" y="1920240"/>
            <a:ext cx="1463040" cy="128016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53212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57784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OS Kernel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77840" y="2606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Core OS begins execution and checks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237744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1F497D"/>
                </a:solidFill>
                <a:latin typeface="Calibri"/>
              </a:rPr>
              <a:t>▶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23760" y="1920240"/>
            <a:ext cx="1463040" cy="12801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223760" y="196596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19456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User Login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26060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Secure session established for the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4320" y="33832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97D"/>
                </a:solidFill>
                <a:latin typeface="Calibri"/>
              </a:rPr>
              <a:t>BIOS  vs  UEFI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840480"/>
            <a:ext cx="4206240" cy="384048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65760" y="3877056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BIOS (Basic Input/Output System)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4224528"/>
            <a:ext cx="4206240" cy="2267712"/>
          </a:xfrm>
          <a:prstGeom prst="rect">
            <a:avLst/>
          </a:prstGeom>
          <a:solidFill>
            <a:srgbClr val="DBE5F1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384048" y="4315968"/>
            <a:ext cx="3986784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First program run at power-on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Stored on small chip on motherboard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32-bit mode only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Older standard — less secure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Limited boot verification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663440" y="3840480"/>
            <a:ext cx="4206240" cy="384048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4754880" y="3877056"/>
            <a:ext cx="4023360" cy="338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UEFI (Unified Extensible Firmware Interface)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663440" y="4224528"/>
            <a:ext cx="4206240" cy="2267712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773168" y="4315968"/>
            <a:ext cx="3986784" cy="2084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Newer, modern replacement for BIOS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Defines standard interface: OS ↔ firmware ↔ devices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Runs in 64-bit mode — preferred over BIOS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Supports Secure Boot (verifies OS signatures)</a:t>
            </a:r>
          </a:p>
          <a:p>
            <a:pPr algn="l">
              <a:spcAft>
                <a:spcPts val="400"/>
              </a:spcAft>
            </a:pPr>
            <a:r>
              <a:rPr sz="1300">
                <a:solidFill>
                  <a:srgbClr val="262626"/>
                </a:solidFill>
                <a:latin typeface="Calibri"/>
              </a:rPr>
              <a:t>•  Better hardware compatibility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9.1.10  Apple System Security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macOS hardware and software security 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Apple provides hardware and macOS security features that offer robust endpoint protection, complementing Windows and Linux security.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" y="1874519"/>
            <a:ext cx="2103120" cy="34747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56032" y="1911095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Security Hardware / (Secure Enclave)</a:t>
            </a:r>
          </a:p>
        </p:txBody>
      </p:sp>
      <p:sp>
        <p:nvSpPr>
          <p:cNvPr id="8" name="Rectangle 7"/>
          <p:cNvSpPr/>
          <p:nvPr/>
        </p:nvSpPr>
        <p:spPr>
          <a:xfrm>
            <a:off x="201168" y="2221991"/>
            <a:ext cx="2103120" cy="1069848"/>
          </a:xfrm>
          <a:prstGeom prst="rect">
            <a:avLst/>
          </a:prstGeom>
          <a:solidFill>
            <a:srgbClr val="DBE5F1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74320" y="2276855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Special CPU with dedicated AES encryption engine on a System-on-Chip.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14016" y="1874519"/>
            <a:ext cx="2103120" cy="347472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468880" y="1911095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Encrypted Storage / (FileVault / Data Protection)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14016" y="2221991"/>
            <a:ext cx="2103120" cy="1069848"/>
          </a:xfrm>
          <a:prstGeom prst="rect">
            <a:avLst/>
          </a:prstGeom>
          <a:solidFill>
            <a:srgbClr val="D6EFF5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87168" y="2276855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Hardware AES engine encrypts/decrypts files without exposing keys to OS or apps.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26864" y="1874519"/>
            <a:ext cx="2103120" cy="347472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681728" y="1911095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Secure Boot / (Boot ROM)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26864" y="2221991"/>
            <a:ext cx="2103120" cy="1069848"/>
          </a:xfrm>
          <a:prstGeom prst="rect">
            <a:avLst/>
          </a:prstGeom>
          <a:solidFill>
            <a:srgbClr val="EBF1DD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00016" y="2276855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Protects low-level hardware; only genuine, unaltered Apple OS software may run.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39712" y="1874519"/>
            <a:ext cx="2103120" cy="34747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894576" y="1911095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Secure Biometrics / (Touch ID / Face ID)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839712" y="2221991"/>
            <a:ext cx="2103120" cy="1069848"/>
          </a:xfrm>
          <a:prstGeom prst="rect">
            <a:avLst/>
          </a:prstGeom>
          <a:solidFill>
            <a:srgbClr val="FDEAD3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12864" y="2276855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Biometric data processed in security hardware — segregated from OS and running apps.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01168" y="3401567"/>
            <a:ext cx="2103120" cy="347472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256032" y="3438143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Find My Mac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01168" y="3749039"/>
            <a:ext cx="2103120" cy="1069848"/>
          </a:xfrm>
          <a:prstGeom prst="rect">
            <a:avLst/>
          </a:prstGeom>
          <a:solidFill>
            <a:srgbClr val="F9E0DE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274320" y="3803903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Location tracking for lost/stolen devices with remote lock and storage erase.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414016" y="3401567"/>
            <a:ext cx="2103120" cy="34747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2468880" y="3438143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XProtect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414016" y="3749039"/>
            <a:ext cx="2103120" cy="1069848"/>
          </a:xfrm>
          <a:prstGeom prst="rect">
            <a:avLst/>
          </a:prstGeom>
          <a:solidFill>
            <a:srgbClr val="E6DFEC"/>
          </a:solidFill>
          <a:ln w="952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2487168" y="3803903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Signature-based malware detection; alerts user and offers removal option.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626864" y="3401567"/>
            <a:ext cx="2103120" cy="34747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681728" y="3438143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MRT / (Malware Removal Tool)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26864" y="3749039"/>
            <a:ext cx="2103120" cy="1069848"/>
          </a:xfrm>
          <a:prstGeom prst="rect">
            <a:avLst/>
          </a:prstGeom>
          <a:solidFill>
            <a:srgbClr val="DBE5F1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700016" y="3803903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Detects/removes existing infections using auto-updated rules. Runs at startup and login.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839712" y="3401567"/>
            <a:ext cx="2103120" cy="347472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894576" y="3438143"/>
            <a:ext cx="1993392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Gatekeeper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39712" y="3749039"/>
            <a:ext cx="2103120" cy="1069848"/>
          </a:xfrm>
          <a:prstGeom prst="rect">
            <a:avLst/>
          </a:prstGeom>
          <a:solidFill>
            <a:srgbClr val="EBF1DD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912864" y="3803903"/>
            <a:ext cx="1956816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62626"/>
                </a:solidFill>
                <a:latin typeface="Calibri"/>
              </a:rPr>
              <a:t>Only authentic, digitally-signed, Apple-notarized software may be installed.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9.1.11  Managing Device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Identifying threats and applying appropriate countermeasures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For each device domain threat, there is a corresponding countermeasure to manage and reduce risk: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28800"/>
            <a:ext cx="384048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65760" y="184708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THREAT</a:t>
            </a:r>
          </a:p>
        </p:txBody>
      </p:sp>
      <p:sp>
        <p:nvSpPr>
          <p:cNvPr id="8" name="Rectangle 7"/>
          <p:cNvSpPr/>
          <p:nvPr/>
        </p:nvSpPr>
        <p:spPr>
          <a:xfrm>
            <a:off x="4206240" y="1828800"/>
            <a:ext cx="4663440" cy="3657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297680" y="1847088"/>
            <a:ext cx="448056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COUNTERMEASURE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1874519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240280"/>
            <a:ext cx="128016" cy="630936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0624" y="2240280"/>
            <a:ext cx="3694176" cy="630936"/>
          </a:xfrm>
          <a:prstGeom prst="rect">
            <a:avLst/>
          </a:prstGeom>
          <a:solidFill>
            <a:srgbClr val="F9E0DE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30352" y="2331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04D"/>
                </a:solidFill>
                <a:latin typeface="Calibri"/>
              </a:rPr>
              <a:t>Unpatched Software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31920" y="2404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06240" y="2240280"/>
            <a:ext cx="128016" cy="630936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4352544" y="2240280"/>
            <a:ext cx="4517136" cy="630936"/>
          </a:xfrm>
          <a:prstGeom prst="rect">
            <a:avLst/>
          </a:prstGeom>
          <a:solidFill>
            <a:srgbClr val="EBF1DD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462272" y="23317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Patch Management — install updates and security patches promptly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926080"/>
            <a:ext cx="128016" cy="630936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20624" y="2926080"/>
            <a:ext cx="3694176" cy="630936"/>
          </a:xfrm>
          <a:prstGeom prst="rect">
            <a:avLst/>
          </a:prstGeom>
          <a:solidFill>
            <a:srgbClr val="FDEAD3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30352" y="30175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646"/>
                </a:solidFill>
                <a:latin typeface="Calibri"/>
              </a:rPr>
              <a:t>User Downloads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31920" y="30906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206240" y="2926080"/>
            <a:ext cx="128016" cy="630936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4352544" y="2926080"/>
            <a:ext cx="4517136" cy="630936"/>
          </a:xfrm>
          <a:prstGeom prst="rect">
            <a:avLst/>
          </a:prstGeom>
          <a:solidFill>
            <a:srgbClr val="DBE5F1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462272" y="30175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User Awareness Training and Download Policies / Whitelisting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611880"/>
            <a:ext cx="128016" cy="630936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420624" y="3611880"/>
            <a:ext cx="3694176" cy="630936"/>
          </a:xfrm>
          <a:prstGeom prst="rect">
            <a:avLst/>
          </a:prstGeom>
          <a:solidFill>
            <a:srgbClr val="F9E0DE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30352" y="37033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04D"/>
                </a:solidFill>
                <a:latin typeface="Calibri"/>
              </a:rPr>
              <a:t>Malware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31920" y="37764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206240" y="3611880"/>
            <a:ext cx="128016" cy="630936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Rectangle 29"/>
          <p:cNvSpPr/>
          <p:nvPr/>
        </p:nvSpPr>
        <p:spPr>
          <a:xfrm>
            <a:off x="4352544" y="3611880"/>
            <a:ext cx="4517136" cy="630936"/>
          </a:xfrm>
          <a:prstGeom prst="rect">
            <a:avLst/>
          </a:prstGeom>
          <a:solidFill>
            <a:srgbClr val="E6DFEC"/>
          </a:solidFill>
          <a:ln w="952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4462272" y="37033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Antimalware / Antivirus Software with real-time protection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97680"/>
            <a:ext cx="128016" cy="630936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420624" y="4297680"/>
            <a:ext cx="3694176" cy="630936"/>
          </a:xfrm>
          <a:prstGeom prst="rect">
            <a:avLst/>
          </a:prstGeom>
          <a:solidFill>
            <a:srgbClr val="FDEAD3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43891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79646"/>
                </a:solidFill>
                <a:latin typeface="Calibri"/>
              </a:rPr>
              <a:t>Unattended Devices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931920" y="44622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06240" y="4297680"/>
            <a:ext cx="128016" cy="630936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52544" y="4297680"/>
            <a:ext cx="4517136" cy="630936"/>
          </a:xfrm>
          <a:prstGeom prst="rect">
            <a:avLst/>
          </a:prstGeom>
          <a:solidFill>
            <a:srgbClr val="D6EFF5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462272" y="43891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Screen Lock Policies and Physical Security Controls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983480"/>
            <a:ext cx="128016" cy="630936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420624" y="4983480"/>
            <a:ext cx="3694176" cy="630936"/>
          </a:xfrm>
          <a:prstGeom prst="rect">
            <a:avLst/>
          </a:prstGeom>
          <a:solidFill>
            <a:srgbClr val="E6DFEC"/>
          </a:solidFill>
          <a:ln w="952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30352" y="50749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064A2"/>
                </a:solidFill>
                <a:latin typeface="Calibri"/>
              </a:rPr>
              <a:t>AUP Violation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31920" y="51480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06240" y="4983480"/>
            <a:ext cx="128016" cy="630936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Rectangle 43"/>
          <p:cNvSpPr/>
          <p:nvPr/>
        </p:nvSpPr>
        <p:spPr>
          <a:xfrm>
            <a:off x="4352544" y="4983480"/>
            <a:ext cx="4517136" cy="630936"/>
          </a:xfrm>
          <a:prstGeom prst="rect">
            <a:avLst/>
          </a:prstGeom>
          <a:solidFill>
            <a:srgbClr val="FDEAD3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/>
          <p:cNvSpPr txBox="1"/>
          <p:nvPr/>
        </p:nvSpPr>
        <p:spPr>
          <a:xfrm>
            <a:off x="4462272" y="50749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Acceptable Use Policy enforcement and employee monitoring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274320" y="5669280"/>
            <a:ext cx="128016" cy="630936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420624" y="5669280"/>
            <a:ext cx="3694176" cy="630936"/>
          </a:xfrm>
          <a:prstGeom prst="rect">
            <a:avLst/>
          </a:prstGeom>
          <a:solidFill>
            <a:srgbClr val="F9E0DE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30352" y="576072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504D"/>
                </a:solidFill>
                <a:latin typeface="Calibri"/>
              </a:rPr>
              <a:t>Unauthorized Media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931920" y="5833872"/>
            <a:ext cx="274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F497D"/>
                </a:solidFill>
                <a:latin typeface="Calibri"/>
              </a:rPr>
              <a:t>→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206240" y="5669280"/>
            <a:ext cx="128016" cy="630936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4352544" y="5669280"/>
            <a:ext cx="4517136" cy="630936"/>
          </a:xfrm>
          <a:prstGeom prst="rect">
            <a:avLst/>
          </a:prstGeom>
          <a:solidFill>
            <a:srgbClr val="EBF1DD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4462272" y="5760720"/>
            <a:ext cx="4297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62626"/>
                </a:solidFill>
                <a:latin typeface="Calibri"/>
              </a:rPr>
              <a:t>Disable USB ports / Implement removable media policies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EECE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595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9.1.12  Physical Protection of Devices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49808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DBE5F1"/>
                </a:solidFill>
                <a:latin typeface="Calibri"/>
              </a:rPr>
              <a:t>Security measures to protect hardware and telecommunications rooms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132588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62626"/>
                </a:solidFill>
                <a:latin typeface="Calibri"/>
              </a:rPr>
              <a:t>Software defenses are not enough — physical access can bypass all digital controls. Physical security is the last line of defence for hardware and sensitive rooms.</a:t>
            </a:r>
          </a:p>
        </p:txBody>
      </p:sp>
      <p:sp>
        <p:nvSpPr>
          <p:cNvPr id="6" name="Rectangle 5"/>
          <p:cNvSpPr/>
          <p:nvPr/>
        </p:nvSpPr>
        <p:spPr>
          <a:xfrm>
            <a:off x="246888" y="1920240"/>
            <a:ext cx="2011680" cy="73152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6888" y="1993392"/>
            <a:ext cx="2011680" cy="45720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20040" y="201168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Cable Locks</a:t>
            </a:r>
          </a:p>
        </p:txBody>
      </p:sp>
      <p:sp>
        <p:nvSpPr>
          <p:cNvPr id="9" name="Rectangle 8"/>
          <p:cNvSpPr/>
          <p:nvPr/>
        </p:nvSpPr>
        <p:spPr>
          <a:xfrm>
            <a:off x="246888" y="2450592"/>
            <a:ext cx="2011680" cy="3127248"/>
          </a:xfrm>
          <a:prstGeom prst="rect">
            <a:avLst/>
          </a:prstGeom>
          <a:solidFill>
            <a:srgbClr val="DBE5F1"/>
          </a:solidFill>
          <a:ln w="12700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8328" y="256032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Secure devices to desks or fixed objects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Prevents theft of laptops and workstations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Kensington lock standard widely used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459736" y="1920240"/>
            <a:ext cx="2011680" cy="73152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2459736" y="1993392"/>
            <a:ext cx="2011680" cy="45720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532888" y="201168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Cipher Locks / Access Control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459736" y="2450592"/>
            <a:ext cx="2011680" cy="3127248"/>
          </a:xfrm>
          <a:prstGeom prst="rect">
            <a:avLst/>
          </a:prstGeom>
          <a:solidFill>
            <a:srgbClr val="FDEAD3"/>
          </a:solidFill>
          <a:ln w="12700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551176" y="256032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Lock telecommunications rooms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Combination or PIN-based locks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Restrict access to authorized personnel only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72584" y="1920240"/>
            <a:ext cx="2011680" cy="73152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4672584" y="1993392"/>
            <a:ext cx="2011680" cy="45720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745736" y="201168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Faraday Cages / Security Cages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72584" y="2450592"/>
            <a:ext cx="2011680" cy="3127248"/>
          </a:xfrm>
          <a:prstGeom prst="rect">
            <a:avLst/>
          </a:prstGeom>
          <a:solidFill>
            <a:srgbClr val="EBF1DD"/>
          </a:solidFill>
          <a:ln w="12700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764024" y="256032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Metal enclosures block electromagnetic fields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Prevent wireless eavesdropping or attacks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Used around sensitive equipment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85432" y="1920240"/>
            <a:ext cx="2011680" cy="73152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885432" y="1993392"/>
            <a:ext cx="2011680" cy="45720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958584" y="201168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RFID &amp; Surveillance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885432" y="2450592"/>
            <a:ext cx="2011680" cy="3127248"/>
          </a:xfrm>
          <a:prstGeom prst="rect">
            <a:avLst/>
          </a:prstGeom>
          <a:solidFill>
            <a:srgbClr val="E6DFEC"/>
          </a:solidFill>
          <a:ln w="12700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976872" y="2560320"/>
            <a:ext cx="18288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RFID tags track physical assets in real time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CCTV cameras monitor access points</a:t>
            </a:r>
          </a:p>
          <a:p>
            <a:pPr algn="l">
              <a:spcAft>
                <a:spcPts val="400"/>
              </a:spcAft>
            </a:pPr>
            <a:r>
              <a:rPr sz="1200">
                <a:solidFill>
                  <a:srgbClr val="262626"/>
                </a:solidFill>
                <a:latin typeface="Calibri"/>
              </a:rPr>
              <a:t>•  Logging and auditing of physical access events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760720"/>
            <a:ext cx="8595360" cy="7772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411480" y="5833872"/>
            <a:ext cx="83210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Remember: A strong security posture requires BOTH software controls AND physical security measures working together.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97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Calibri"/>
              </a:rPr>
              <a:t>Module 9.1 — Summary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4114800" cy="54864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1280160" cy="594360"/>
          </a:xfrm>
          <a:prstGeom prst="rect">
            <a:avLst/>
          </a:prstGeom>
          <a:solidFill>
            <a:srgbClr val="4F81B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329184" y="1298448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OS Security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1554480" y="1188720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4F81B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645920" y="1261872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Harden OS: remove unused programs/services, apply patches promptly.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1188720"/>
            <a:ext cx="1280160" cy="59436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35424" y="1298448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Antimalware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0" y="1188720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852160" y="1261872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5 types: adware protection, trusted advisor, phishing, antivirus, anti-spyware.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856232"/>
            <a:ext cx="1280160" cy="59436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9184" y="1965960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Patch Management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1856232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645920" y="1929384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Patches fix vulnerabilities; service packs bundle updates; use Windows Update.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1856232"/>
            <a:ext cx="1280160" cy="594360"/>
          </a:xfrm>
          <a:prstGeom prst="rect">
            <a:avLst/>
          </a:prstGeom>
          <a:solidFill>
            <a:srgbClr val="F796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35424" y="1965960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Endpoint Security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0" y="1856232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F796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852160" y="1929384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6 host-based solutions: Firewall, HIDS, HIPS, EDR, DLP, NGFW.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23744"/>
            <a:ext cx="1280160" cy="594360"/>
          </a:xfrm>
          <a:prstGeom prst="rect">
            <a:avLst/>
          </a:prstGeom>
          <a:solidFill>
            <a:srgbClr val="8064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29184" y="2633472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Encryption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554480" y="2523744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8064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1645920" y="2596896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EFS (files), BitLocker (FDE + TPM), BitLocker To Go, Self-Encrypting Drive.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80560" y="2523744"/>
            <a:ext cx="1280160" cy="594360"/>
          </a:xfrm>
          <a:prstGeom prst="rect">
            <a:avLst/>
          </a:prstGeom>
          <a:solidFill>
            <a:srgbClr val="C05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35424" y="2633472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Boot Integrity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60720" y="2523744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C05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852160" y="2596896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BIOS vs UEFI — Secure Boot ensures OS authenticity during startup.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3191256"/>
            <a:ext cx="1280160" cy="594360"/>
          </a:xfrm>
          <a:prstGeom prst="rect">
            <a:avLst/>
          </a:prstGeom>
          <a:solidFill>
            <a:srgbClr val="4BACC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329184" y="3300984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Apple Security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54480" y="3191256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4BACC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1645920" y="3264408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Secure Enclave, FileVault, Secure Boot, XProtect, MRT, Gatekeeper.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80560" y="3191256"/>
            <a:ext cx="1280160" cy="594360"/>
          </a:xfrm>
          <a:prstGeom prst="rect">
            <a:avLst/>
          </a:prstGeom>
          <a:solidFill>
            <a:srgbClr val="9BBB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35424" y="3300984"/>
            <a:ext cx="1188720" cy="429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Physical Security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760720" y="3191256"/>
            <a:ext cx="2743200" cy="594360"/>
          </a:xfrm>
          <a:prstGeom prst="rect">
            <a:avLst/>
          </a:prstGeom>
          <a:solidFill>
            <a:srgbClr val="173762"/>
          </a:solidFill>
          <a:ln w="9525">
            <a:solidFill>
              <a:srgbClr val="9BBB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852160" y="3264408"/>
            <a:ext cx="2560320" cy="4663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DBE5F1"/>
                </a:solidFill>
                <a:latin typeface="Calibri"/>
              </a:rPr>
              <a:t>Cable locks, cipher locks, Faraday cages, RFID tracking, CCTV.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9224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4BACC6"/>
                </a:solidFill>
                <a:latin typeface="Calibri"/>
              </a:rPr>
              <a:t>Cybersecurity Essentials  |  Module 9.1  |  Defending Systems and Devices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5720</TotalTime>
  <Words>1768</Words>
  <Application>Microsoft Office PowerPoint</Application>
  <PresentationFormat>On-screen Show (4:3)</PresentationFormat>
  <Paragraphs>227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CiscoSansTT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Kudzi Majeza</dc:creator>
  <cp:keywords/>
  <dc:description>generated using python-pptx</dc:description>
  <cp:lastModifiedBy>Kudzi Majeza</cp:lastModifiedBy>
  <cp:revision>10</cp:revision>
  <dcterms:created xsi:type="dcterms:W3CDTF">2013-01-27T09:14:16Z</dcterms:created>
  <dcterms:modified xsi:type="dcterms:W3CDTF">2026-05-09T16:46:28Z</dcterms:modified>
  <cp:category/>
</cp:coreProperties>
</file>